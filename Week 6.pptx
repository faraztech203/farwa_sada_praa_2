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7" r:id="rId6"/>
    <p:sldId id="278" r:id="rId7"/>
    <p:sldId id="279" r:id="rId8"/>
    <p:sldId id="260" r:id="rId9"/>
    <p:sldId id="261" r:id="rId10"/>
    <p:sldId id="262" r:id="rId11"/>
    <p:sldId id="263" r:id="rId12"/>
    <p:sldId id="280" r:id="rId13"/>
    <p:sldId id="264" r:id="rId14"/>
    <p:sldId id="266" r:id="rId15"/>
    <p:sldId id="265" r:id="rId16"/>
    <p:sldId id="267" r:id="rId17"/>
    <p:sldId id="268" r:id="rId18"/>
    <p:sldId id="281" r:id="rId19"/>
    <p:sldId id="282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77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43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029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178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608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41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905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| Chapter 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 Travelling Wave,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Equation &amp; Interference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· Constructive &amp; Destructive Interference · Standing Waves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Physics | BS Engineering | Chapter 16 – Waves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and apply the wave speed equation v = fλ = λ/T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Understand wave speed on a string: v = √(F_T / μ)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and interpret the sinusoidal wave function y(x,t) = A sin(kx − ωt + φ)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Apply the principle of superposition to two or more overlapping waves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Distinguish constructive interference from destructive interference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Describe standing waves, nodes, antinodes, and resonance conditions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Solve Halliday-style problems involving all of the above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 Travelling Wave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— Physical Derivation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first principles: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one period T, the wave crest moves forward by exactly one wavelength λ.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Speed = distance / time  =  λ / 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Since  T = 1/f,  substituting gives  v = λ · 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40487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Wave Equation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=  f λ  =  λ / 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" y="3419856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wave types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11480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40487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on a String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660904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=  √( F_T / μ 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3419856"/>
            <a:ext cx="3968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tension (N),  μ = linear density (kg/m)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insight on string speed: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tension → stiffer string → wave travels faster.  Higher linear density (heavier string) → wave travels slower.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sound in air at 20°C ≈ 343 m/s     |     Speed of light in vacuum = 3×10⁸ m/s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Wave Speed on a String: v = √(T/μ)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Physical understanding before the math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20130" y="1005840"/>
            <a:ext cx="4023360" cy="868680"/>
          </a:xfrm>
          <a:prstGeom prst="rect">
            <a:avLst/>
          </a:prstGeom>
          <a:solidFill>
            <a:srgbClr val="0D1B45"/>
          </a:solidFill>
          <a:ln w="19050">
            <a:solidFill>
              <a:srgbClr val="FFD54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0130" y="976155"/>
            <a:ext cx="3877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  =  √( T / μ 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4160520" cy="1481328"/>
          </a:xfrm>
          <a:prstGeom prst="rect">
            <a:avLst/>
          </a:prstGeom>
          <a:solidFill>
            <a:srgbClr val="152044"/>
          </a:solidFill>
          <a:ln w="1651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29968"/>
            <a:ext cx="41605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482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  (Tension) — NUMERATOR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49631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tension → stronger restoring force → faster snap-back → wave propagates faster.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 ↑ → v ↑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Extreme: T → 0 (slack string) → v = 0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029968"/>
            <a:ext cx="4160520" cy="1481328"/>
          </a:xfrm>
          <a:prstGeom prst="rect">
            <a:avLst/>
          </a:prstGeom>
          <a:solidFill>
            <a:srgbClr val="152044"/>
          </a:solidFill>
          <a:ln w="1651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29968"/>
            <a:ext cx="416052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482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μ  (Linear Density) — DENOMINATOR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82312" y="249631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mass density → more inertia → harder to accelerate → wave travels slower.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μ ↑ → v ↓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Extreme: μ → 0 (massless) → v = ∞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8503920" cy="320040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85032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Changes v: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86000" y="3685032"/>
            <a:ext cx="6400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Tighten rope (T↑) · Use lighter rope (μ↓)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005072"/>
            <a:ext cx="8503920" cy="320040"/>
          </a:xfrm>
          <a:prstGeom prst="rect">
            <a:avLst/>
          </a:prstGeom>
          <a:solidFill>
            <a:srgbClr val="152044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32504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v: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86000" y="4032504"/>
            <a:ext cx="6400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Shake faster (f↑) · Shake harder (A↑) — MEDIUM controls speed!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4352544"/>
            <a:ext cx="8503920" cy="320040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79976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you shake faster: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86000" y="4379976"/>
            <a:ext cx="6400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f↑ · v unchanged · λ = v/f decreases (shorter waves)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4700016"/>
            <a:ext cx="8503920" cy="320040"/>
          </a:xfrm>
          <a:prstGeom prst="rect">
            <a:avLst/>
          </a:prstGeom>
          <a:solidFill>
            <a:srgbClr val="152044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27448"/>
            <a:ext cx="1737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86000" y="4727448"/>
            <a:ext cx="6400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√(elastic/inertial) — same form for ALL wave types in physics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316" y="-2068"/>
            <a:ext cx="2626684" cy="20414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844" y="3910182"/>
            <a:ext cx="2949156" cy="9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0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Speed Equation: v = fλ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 and what it connects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5852160" cy="777240"/>
          </a:xfrm>
          <a:prstGeom prst="rect">
            <a:avLst/>
          </a:prstGeom>
          <a:solidFill>
            <a:srgbClr val="0D1B45"/>
          </a:solidFill>
          <a:ln w="1905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19072" y="1005840"/>
            <a:ext cx="5705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  =  fλ  =  ω/k  =  λ/T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3258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Logic: In one period T, one wavelength λ passes a fixed point. Speed = distance/time = λ/T = fλ.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28346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controls 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(your hand shaking) sets the frequency. Shake faster → higher f. The medium doesn't change f.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423160"/>
            <a:ext cx="283464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MEDIUM controls v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√(T/μ). The string properties determine wave speed. Changing f or A does NOT change v.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2423160"/>
            <a:ext cx="2834640" cy="182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43E97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423160"/>
            <a:ext cx="2834640" cy="40233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441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λ = v/f follows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5080" y="2898648"/>
            <a:ext cx="26517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Once source sets f and medium sets v, the wavelength has no choice: λ = v/f. It's a result, not a cause.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guitar string — thinner string (μ↓) → v↑ → for same f, λ↑ (longer wavelength). Higher pitch = higher f, not higher v.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62" y="1024128"/>
            <a:ext cx="2256978" cy="119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1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Particle Actually Do?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vs particle speed — the most confused concept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51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25196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 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" y="16002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 of the PATTERN moving along string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8056" y="20299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0253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direction (along string)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" y="245973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3230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CONSTANT — does not change with time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8056" y="288950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62072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 = ω/k = fλ = √(T/μ)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8056" y="33192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depend on amplitude A or frequency 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024128"/>
            <a:ext cx="42519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24128"/>
            <a:ext cx="425196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4241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Particle Speed  uᵧ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82896" y="160020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7276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 of each particle moving up/down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82896" y="202996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00253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Vertical direction (transverse)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82896" y="2459736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43230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time — it's sinusoidal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82896" y="2889504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862072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uᵧ = −ωA cos(kx − ωt)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82896" y="331927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291840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Maximum: uᵧ,max = ωA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Particle Behavior Summary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4233672"/>
            <a:ext cx="15544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336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874520" y="4233672"/>
            <a:ext cx="22402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42336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114800" y="4233672"/>
            <a:ext cx="22402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2336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4233672"/>
            <a:ext cx="246888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2336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0040" y="4544568"/>
            <a:ext cx="15544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544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Crest (y = +A)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874520" y="4544568"/>
            <a:ext cx="22402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45445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114800" y="4544568"/>
            <a:ext cx="22402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45445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55080" y="4544568"/>
            <a:ext cx="24688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544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downward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40" y="4818888"/>
            <a:ext cx="1554480" cy="274320"/>
          </a:xfrm>
          <a:prstGeom prst="rect">
            <a:avLst/>
          </a:prstGeom>
          <a:solidFill>
            <a:srgbClr val="FAFB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18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Equilibrium (y = 0)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874520" y="4818888"/>
            <a:ext cx="2240280" cy="274320"/>
          </a:xfrm>
          <a:prstGeom prst="rect">
            <a:avLst/>
          </a:prstGeom>
          <a:solidFill>
            <a:srgbClr val="FAFB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48188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114800" y="4818888"/>
            <a:ext cx="2240280" cy="274320"/>
          </a:xfrm>
          <a:prstGeom prst="rect">
            <a:avLst/>
          </a:prstGeom>
          <a:solidFill>
            <a:srgbClr val="FAFB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0" y="48188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= ωA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55080" y="4818888"/>
            <a:ext cx="2468880" cy="274320"/>
          </a:xfrm>
          <a:prstGeom prst="rect">
            <a:avLst/>
          </a:prstGeom>
          <a:solidFill>
            <a:srgbClr val="FAFB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4818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20040" y="5093208"/>
            <a:ext cx="15544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5093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Trough (y = −A)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874520" y="5093208"/>
            <a:ext cx="22402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50932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114800" y="5093208"/>
            <a:ext cx="22402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50932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55080" y="5093208"/>
            <a:ext cx="246888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5093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 upward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291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Guitar String Wave Speed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46304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(Halliday Example 16.5)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guitar's high-E string has linear density μ = 3.09×10⁻⁴ kg/m and is under tension F_T = 56.40 N. (a) Find the wave speed on the string. (b) The low-E string has μ ≈ 20× greater. What tension is needed for the same wave speed?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34640"/>
            <a:ext cx="4114800" cy="347472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High-E string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√(F_T / μ)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√(56.40 / 3.09×10⁻⁴)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√(182,524)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427.2 m/s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83464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Low-E tension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μ_low = 20μ_high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 → F_T = v² × μ_low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(427.2)² × 20 × 3.09×10⁻⁴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1128 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Sinusoidal Wave Equation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 Function  y(x, t) = A sin(kx − ωt + φ)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meaning — what does each symbol represent?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298448"/>
            <a:ext cx="768096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9844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y(x, t)  =  A sin( kx  −  ωt  +  φ 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59152"/>
            <a:ext cx="68580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9806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displacement of medium from equilibrium (m)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23591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359152"/>
            <a:ext cx="685800" cy="118872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59152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3212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Number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79806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2π/λ  (rad/m)  — spatial frequency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850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85032"/>
            <a:ext cx="685800" cy="11887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85032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43000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1239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2πf = 2π/T  (rad/s)  — temporal frequency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6850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85032"/>
            <a:ext cx="685800" cy="11887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685032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32120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Shift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1239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phase at t=0, x=0 (radians)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Direction — Sign Convention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the time term tells you the wave's direction of travel: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2286000"/>
          </a:xfrm>
          <a:prstGeom prst="rect">
            <a:avLst/>
          </a:prstGeom>
          <a:solidFill>
            <a:srgbClr val="E6F9F0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02336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Positive x-direction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y(x,t) = A sin(kx  −  ωt)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sign in time term.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 increases, x must increase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phase constant → moves right.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2286000"/>
          </a:xfrm>
          <a:prstGeom prst="rect">
            <a:avLst/>
          </a:prstGeom>
          <a:solidFill>
            <a:srgbClr val="FEF3E2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40233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 x-direction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y(x,t) = A sin(kx  +  ωt)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sign in time term.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 increases, x must decrease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phase constant → moves left.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2560320" cy="1024128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8679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2394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ω / k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108960" y="3794760"/>
            <a:ext cx="2560320" cy="1024128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18688" y="38679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0" y="412394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2π / 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852160" y="3794760"/>
            <a:ext cx="2926080" cy="1024128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61888" y="386791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412394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2π / ω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Phase — Where in the 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Φ = kx − ωt + φ is the complete phase argument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0" y="1024128"/>
            <a:ext cx="4572000" cy="749808"/>
          </a:xfrm>
          <a:prstGeom prst="rect">
            <a:avLst/>
          </a:prstGeom>
          <a:solidFill>
            <a:srgbClr val="0D1B45"/>
          </a:solidFill>
          <a:ln w="19050">
            <a:solidFill>
              <a:srgbClr val="4FC3F7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59152" y="1024128"/>
            <a:ext cx="44256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Φ  =  kx − ωt + φ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1051560" cy="329184"/>
          </a:xfrm>
          <a:prstGeom prst="rect">
            <a:avLst/>
          </a:prstGeom>
          <a:solidFill>
            <a:srgbClr val="15204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1901952"/>
            <a:ext cx="914400" cy="329184"/>
          </a:xfrm>
          <a:prstGeom prst="rect">
            <a:avLst/>
          </a:prstGeom>
          <a:solidFill>
            <a:srgbClr val="15204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019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sin(Φ)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0" y="1901952"/>
            <a:ext cx="1188720" cy="329184"/>
          </a:xfrm>
          <a:prstGeom prst="rect">
            <a:avLst/>
          </a:prstGeom>
          <a:solidFill>
            <a:srgbClr val="15204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9019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74720" y="1901952"/>
            <a:ext cx="5166360" cy="329184"/>
          </a:xfrm>
          <a:prstGeom prst="rect">
            <a:avLst/>
          </a:prstGeom>
          <a:solidFill>
            <a:srgbClr val="15204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0195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231136"/>
            <a:ext cx="10515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311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71600" y="2231136"/>
            <a:ext cx="91440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23113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0" y="2231136"/>
            <a:ext cx="118872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231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center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74720" y="2231136"/>
            <a:ext cx="51663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231136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Moving upward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105156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5786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π/2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71600" y="2578608"/>
            <a:ext cx="91440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25786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0" y="2578608"/>
            <a:ext cx="118872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25786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peak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0" y="2578608"/>
            <a:ext cx="516636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57860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Turning around (momentarily stopped)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10515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260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371600" y="2926080"/>
            <a:ext cx="91440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29260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286000" y="2926080"/>
            <a:ext cx="118872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2926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center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74720" y="2926080"/>
            <a:ext cx="51663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292608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Moving downward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" y="3273552"/>
            <a:ext cx="105156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2735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3π/2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371600" y="3273552"/>
            <a:ext cx="91440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17320" y="32735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286000" y="3273552"/>
            <a:ext cx="118872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32735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trough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474720" y="3273552"/>
            <a:ext cx="5166360" cy="347472"/>
          </a:xfrm>
          <a:prstGeom prst="rect">
            <a:avLst/>
          </a:prstGeom>
          <a:solidFill>
            <a:srgbClr val="15205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3273552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Turning around (momentarily stopped)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0040" y="3621024"/>
            <a:ext cx="10515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62102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371600" y="3621024"/>
            <a:ext cx="91440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36210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286000" y="3621024"/>
            <a:ext cx="118872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3621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center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474720" y="3621024"/>
            <a:ext cx="5166360" cy="347472"/>
          </a:xfrm>
          <a:prstGeom prst="rect">
            <a:avLst/>
          </a:prstGeom>
          <a:solidFill>
            <a:srgbClr val="0D1B45"/>
          </a:solidFill>
          <a:ln w="6350">
            <a:solidFill>
              <a:srgbClr val="1A2A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0440" y="3621024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Moving upward (full cycle complete)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20040" y="4041648"/>
            <a:ext cx="4251960" cy="1024128"/>
          </a:xfrm>
          <a:prstGeom prst="rect">
            <a:avLst/>
          </a:prstGeom>
          <a:solidFill>
            <a:srgbClr val="152044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29768" y="40782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diff (space)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29768" y="4370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ΔΦ = kΔx = (2π/λ)·Δx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29768" y="4663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separated by Δx have phase difference kΔx. Full wavelength apart → ΔΦ = 2π (in phase again).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754880" y="4041648"/>
            <a:ext cx="4251960" cy="1024128"/>
          </a:xfrm>
          <a:prstGeom prst="rect">
            <a:avLst/>
          </a:prstGeom>
          <a:solidFill>
            <a:srgbClr val="152044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64608" y="40782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diff (time)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864608" y="4370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ΔΦ = ωΔt = (2π/T)·Δt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864608" y="4663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point, two different times. One full period apart → ΔΦ = 2π (back to same state).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65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Reading a Wave Function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(Halliday Example 16.3)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function:  y(x,t) = 0.2 sin(6.28x − 1.57t)  (SI units). Find: amplitude, wavelength, period, wave speed, and direction.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9339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0.2 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29992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from equation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99339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99339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Number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377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6.28 m⁻¹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46120" y="29992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 A sin(kx − ωt)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99339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99339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377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2π/k = 2π/6.28 = 1.0 m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0040" y="35021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0215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1.57 rad/s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35021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50215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2π/ω = 2π/1.57 = 4.0 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89320" y="35021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3502152"/>
            <a:ext cx="26517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502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ω/k = 1.57/6.28 = 0.25 m/s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080760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positive x direction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of Superposition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Principle: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two or more waves overlap at the same point, the resultant displacement is the </a:t>
            </a:r>
            <a:r>
              <a:rPr lang="en-US" sz="15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sum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individual displacements.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y_resultant  =  y₁  +  y₂  +  y₃  + 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2743200" cy="32004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(y₁)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-4581822">
            <a:off x="429768" y="3611880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4545918">
            <a:off x="471830" y="3438496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4465957">
            <a:off x="513893" y="3272689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4320816">
            <a:off x="555955" y="3121707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4061004">
            <a:off x="598018" y="2992147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3559471">
            <a:off x="640080" y="2889673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2445184">
            <a:off x="682142" y="2818763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5" y="2782516"/>
            <a:ext cx="420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445184">
            <a:off x="766267" y="2782516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3559471">
            <a:off x="808330" y="2818763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4061004">
            <a:off x="850392" y="2889673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320816">
            <a:off x="892454" y="2992147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465957">
            <a:off x="934517" y="3121707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4545918">
            <a:off x="976579" y="3272689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581822">
            <a:off x="1018642" y="3438496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4581822">
            <a:off x="1060704" y="3611880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4545918">
            <a:off x="1102766" y="3785264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465957">
            <a:off x="1144829" y="3951071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4320816">
            <a:off x="1186891" y="4102053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4061004">
            <a:off x="1228954" y="4231613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3559471">
            <a:off x="1271016" y="4334087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445184">
            <a:off x="1313078" y="4404997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55141" y="4441244"/>
            <a:ext cx="420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2445184">
            <a:off x="1397203" y="4441244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3559471">
            <a:off x="1439266" y="4404997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4061004">
            <a:off x="1481328" y="4334087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4320816">
            <a:off x="1523390" y="4231613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4465957">
            <a:off x="1565453" y="4102053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4545918">
            <a:off x="1607515" y="3951071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4581822">
            <a:off x="1649578" y="3785264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4581822">
            <a:off x="1691640" y="3611880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4545918">
            <a:off x="1733702" y="3438496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4465957">
            <a:off x="1775765" y="3272689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4320816">
            <a:off x="1817827" y="3121707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4061004">
            <a:off x="1859890" y="2992147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3559471">
            <a:off x="1901952" y="2889673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2445184">
            <a:off x="1944014" y="2818763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86077" y="2782516"/>
            <a:ext cx="420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445184">
            <a:off x="2028139" y="2782516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3559471">
            <a:off x="2070202" y="2818763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4061004">
            <a:off x="2112264" y="2889673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4320816">
            <a:off x="2154326" y="2992147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4465957">
            <a:off x="2196389" y="3121707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4545918">
            <a:off x="2238451" y="3272689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4581822">
            <a:off x="2280514" y="3438496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4581822">
            <a:off x="2322576" y="3611880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4545918">
            <a:off x="2364638" y="3785264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4465957">
            <a:off x="2406701" y="3951071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4320816">
            <a:off x="2448763" y="4102053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4061004">
            <a:off x="2490826" y="4231613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3559471">
            <a:off x="2532888" y="4334087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445184">
            <a:off x="2574950" y="4404997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17013" y="4441244"/>
            <a:ext cx="420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2445184">
            <a:off x="2659075" y="4441244"/>
            <a:ext cx="555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3559471">
            <a:off x="2701138" y="4404997"/>
            <a:ext cx="8244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4061004">
            <a:off x="2743200" y="4334087"/>
            <a:ext cx="1107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4320816">
            <a:off x="2785262" y="4231613"/>
            <a:ext cx="1362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4465957">
            <a:off x="2827325" y="4102053"/>
            <a:ext cx="1567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4545918">
            <a:off x="2869387" y="3951071"/>
            <a:ext cx="17105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4581822">
            <a:off x="2911450" y="3785264"/>
            <a:ext cx="1784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9768" y="3611880"/>
            <a:ext cx="2523744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3264408" y="21488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264408" y="2148840"/>
            <a:ext cx="27432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55848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(y₂)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 rot="4581822">
            <a:off x="3374136" y="3611880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4545918">
            <a:off x="3416198" y="3785264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4465957">
            <a:off x="3458261" y="3951071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4320816">
            <a:off x="3500323" y="4102053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4061004">
            <a:off x="3542386" y="4231613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3559471">
            <a:off x="3584448" y="4334087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445184">
            <a:off x="3626510" y="4404997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68573" y="4441244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2445184">
            <a:off x="3710635" y="4441244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3559471">
            <a:off x="3752698" y="4404997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4061004">
            <a:off x="3794760" y="4334087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4320816">
            <a:off x="3836822" y="4231613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4465957">
            <a:off x="3878885" y="4102053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4545918">
            <a:off x="3920947" y="3951071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4581822">
            <a:off x="3963010" y="3785264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4581822">
            <a:off x="4005072" y="3611880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4545918">
            <a:off x="4047133" y="3438496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4465957">
            <a:off x="4089197" y="3272689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4320816">
            <a:off x="4131259" y="3121707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4061004">
            <a:off x="4173322" y="2992147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3559471">
            <a:off x="4215384" y="2889673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2445184">
            <a:off x="4257446" y="2818763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299509" y="2782516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2445184">
            <a:off x="4341571" y="2782516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3559471">
            <a:off x="4383634" y="2818763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4061004">
            <a:off x="4425696" y="2889673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4320816">
            <a:off x="4467758" y="2992147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4465957">
            <a:off x="4509821" y="3121707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4545918">
            <a:off x="4551883" y="3272689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4581822">
            <a:off x="4593946" y="3438496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4581822">
            <a:off x="4636008" y="3611880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4545918">
            <a:off x="4678070" y="3785264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4465957">
            <a:off x="4720133" y="3951071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4320816">
            <a:off x="4762195" y="4102053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4061004">
            <a:off x="4804258" y="4231613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3559471">
            <a:off x="4846320" y="4334087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2445184">
            <a:off x="4888382" y="4404997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30445" y="4441244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2445184">
            <a:off x="4972507" y="4441244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3559471">
            <a:off x="5014570" y="4404997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4061004">
            <a:off x="5056632" y="4334087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4320816">
            <a:off x="5098694" y="4231613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4465957">
            <a:off x="5140757" y="4102053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4545918">
            <a:off x="5182819" y="3951071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4581822">
            <a:off x="5224882" y="3785264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-4581822">
            <a:off x="5266944" y="3611880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-4545918">
            <a:off x="5309006" y="3438496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4465957">
            <a:off x="5351069" y="3272689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4320816">
            <a:off x="5393131" y="3121707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4061004">
            <a:off x="5435194" y="2992147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3559471">
            <a:off x="5477256" y="2889673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2445184">
            <a:off x="5519318" y="2818763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61381" y="2782516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445184">
            <a:off x="5603443" y="2782516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3559471">
            <a:off x="5645506" y="2818763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4061004">
            <a:off x="5687568" y="2889673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4320816">
            <a:off x="5729630" y="2992147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4465957">
            <a:off x="5771693" y="3121707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4545918">
            <a:off x="5813755" y="3272689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4581822">
            <a:off x="5855818" y="3438496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374136" y="3611880"/>
            <a:ext cx="2523744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6208776" y="21488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6208776" y="2148840"/>
            <a:ext cx="27432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300216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(y₁ + y₂)</a:t>
            </a:r>
            <a:endParaRPr lang="en-US" sz="1250" dirty="0"/>
          </a:p>
        </p:txBody>
      </p:sp>
      <p:sp>
        <p:nvSpPr>
          <p:cNvPr id="138" name="Shape 136"/>
          <p:cNvSpPr/>
          <p:nvPr/>
        </p:nvSpPr>
        <p:spPr>
          <a:xfrm rot="-4581822">
            <a:off x="6318504" y="3611880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4545918">
            <a:off x="6360566" y="3438496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4465957">
            <a:off x="6402629" y="3272689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-4320816">
            <a:off x="6444691" y="3121707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-4061004">
            <a:off x="6486754" y="2992147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3559471">
            <a:off x="6528816" y="2889673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2445184">
            <a:off x="6570878" y="2818763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612941" y="2782516"/>
            <a:ext cx="4206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445184">
            <a:off x="6655003" y="2782516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3559471">
            <a:off x="6697066" y="2818763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4061004">
            <a:off x="6739128" y="2889673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4320816">
            <a:off x="6781190" y="2992147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4465957">
            <a:off x="6823253" y="3121707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4545918">
            <a:off x="6865315" y="3272689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4581822">
            <a:off x="6907378" y="3438496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4581822">
            <a:off x="6949440" y="3611880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4545918">
            <a:off x="6991502" y="3785264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4465957">
            <a:off x="7033565" y="3951071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4320816">
            <a:off x="7075627" y="4102053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4061004">
            <a:off x="7117690" y="4231613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3559471">
            <a:off x="7159752" y="4334087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2445184">
            <a:off x="7201814" y="4404997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243877" y="4441244"/>
            <a:ext cx="4206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2445184">
            <a:off x="7285939" y="4441244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3559471">
            <a:off x="7328002" y="4404997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4061004">
            <a:off x="7370064" y="4334087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4320816">
            <a:off x="7412126" y="4231613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4465957">
            <a:off x="7454189" y="4102053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4545918">
            <a:off x="7496251" y="3951071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4581822">
            <a:off x="7538314" y="3785264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-4581822">
            <a:off x="7580376" y="3611880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4545918">
            <a:off x="7622438" y="3438496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-4465957">
            <a:off x="7664501" y="3272689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-4320816">
            <a:off x="7706563" y="3121707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-4061004">
            <a:off x="7748626" y="2992147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3559471">
            <a:off x="7790688" y="2889673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-2445184">
            <a:off x="7832750" y="2818763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874813" y="2782516"/>
            <a:ext cx="4206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445184">
            <a:off x="7916875" y="2782516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3559471">
            <a:off x="7958938" y="2818763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4061004">
            <a:off x="8001000" y="2889673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4320816">
            <a:off x="8043062" y="2992147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4465957">
            <a:off x="8085125" y="3121707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4545918">
            <a:off x="8127187" y="3272689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4581822">
            <a:off x="8169250" y="3438496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4581822">
            <a:off x="8211312" y="3611880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4545918">
            <a:off x="8253374" y="3785264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4465957">
            <a:off x="8295437" y="3951071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4320816">
            <a:off x="8337499" y="4102053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4061004">
            <a:off x="8379562" y="4231613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3559471">
            <a:off x="8421624" y="4334087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2445184">
            <a:off x="8463686" y="4404997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505749" y="4441244"/>
            <a:ext cx="4206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2445184">
            <a:off x="8547811" y="4441244"/>
            <a:ext cx="5552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3559471">
            <a:off x="8589874" y="4404997"/>
            <a:ext cx="82447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4061004">
            <a:off x="8631936" y="4334087"/>
            <a:ext cx="110771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4320816">
            <a:off x="8673998" y="4231613"/>
            <a:ext cx="136216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4465957">
            <a:off x="8716061" y="4102053"/>
            <a:ext cx="156732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4545918">
            <a:off x="8758123" y="3951071"/>
            <a:ext cx="171059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-4581822">
            <a:off x="8800186" y="3785264"/>
            <a:ext cx="178414" cy="16459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318504" y="3611880"/>
            <a:ext cx="2523744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6318504" y="3593592"/>
            <a:ext cx="2523744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6318504" y="365760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</a:t>
            </a:r>
            <a:endParaRPr lang="en-US" sz="1000" dirty="0"/>
          </a:p>
        </p:txBody>
      </p:sp>
      <p:sp>
        <p:nvSpPr>
          <p:cNvPr id="201" name="Shape 72"/>
          <p:cNvSpPr/>
          <p:nvPr/>
        </p:nvSpPr>
        <p:spPr>
          <a:xfrm rot="4581822">
            <a:off x="6340582" y="3665048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2" name="Shape 73"/>
          <p:cNvSpPr/>
          <p:nvPr/>
        </p:nvSpPr>
        <p:spPr>
          <a:xfrm rot="4545918">
            <a:off x="6382644" y="3838432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3" name="Shape 74"/>
          <p:cNvSpPr/>
          <p:nvPr/>
        </p:nvSpPr>
        <p:spPr>
          <a:xfrm rot="4465957">
            <a:off x="6424707" y="4004239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4" name="Shape 75"/>
          <p:cNvSpPr/>
          <p:nvPr/>
        </p:nvSpPr>
        <p:spPr>
          <a:xfrm rot="4320816">
            <a:off x="6466769" y="4155221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5" name="Shape 76"/>
          <p:cNvSpPr/>
          <p:nvPr/>
        </p:nvSpPr>
        <p:spPr>
          <a:xfrm rot="4061004">
            <a:off x="6508832" y="4284781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6" name="Shape 77"/>
          <p:cNvSpPr/>
          <p:nvPr/>
        </p:nvSpPr>
        <p:spPr>
          <a:xfrm rot="3559471">
            <a:off x="6550894" y="4387255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7" name="Shape 78"/>
          <p:cNvSpPr/>
          <p:nvPr/>
        </p:nvSpPr>
        <p:spPr>
          <a:xfrm rot="2445184">
            <a:off x="6592956" y="4458165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8" name="Shape 79"/>
          <p:cNvSpPr/>
          <p:nvPr/>
        </p:nvSpPr>
        <p:spPr>
          <a:xfrm>
            <a:off x="6635019" y="4494412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9" name="Shape 80"/>
          <p:cNvSpPr/>
          <p:nvPr/>
        </p:nvSpPr>
        <p:spPr>
          <a:xfrm rot="-2445184">
            <a:off x="6677081" y="4494412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0" name="Shape 81"/>
          <p:cNvSpPr/>
          <p:nvPr/>
        </p:nvSpPr>
        <p:spPr>
          <a:xfrm rot="-3559471">
            <a:off x="6719144" y="4458165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1" name="Shape 82"/>
          <p:cNvSpPr/>
          <p:nvPr/>
        </p:nvSpPr>
        <p:spPr>
          <a:xfrm rot="-4061004">
            <a:off x="6761206" y="4387255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2" name="Shape 83"/>
          <p:cNvSpPr/>
          <p:nvPr/>
        </p:nvSpPr>
        <p:spPr>
          <a:xfrm rot="-4320816">
            <a:off x="6803268" y="4284781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3" name="Shape 84"/>
          <p:cNvSpPr/>
          <p:nvPr/>
        </p:nvSpPr>
        <p:spPr>
          <a:xfrm rot="-4465957">
            <a:off x="6845331" y="4155221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4" name="Shape 85"/>
          <p:cNvSpPr/>
          <p:nvPr/>
        </p:nvSpPr>
        <p:spPr>
          <a:xfrm rot="-4545918">
            <a:off x="6887393" y="4004239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5" name="Shape 86"/>
          <p:cNvSpPr/>
          <p:nvPr/>
        </p:nvSpPr>
        <p:spPr>
          <a:xfrm rot="-4581822">
            <a:off x="6929456" y="3838432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6" name="Shape 87"/>
          <p:cNvSpPr/>
          <p:nvPr/>
        </p:nvSpPr>
        <p:spPr>
          <a:xfrm rot="-4581822">
            <a:off x="6971518" y="3665048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7" name="Shape 88"/>
          <p:cNvSpPr/>
          <p:nvPr/>
        </p:nvSpPr>
        <p:spPr>
          <a:xfrm rot="-4545918">
            <a:off x="7013579" y="3491664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8" name="Shape 89"/>
          <p:cNvSpPr/>
          <p:nvPr/>
        </p:nvSpPr>
        <p:spPr>
          <a:xfrm rot="-4465957">
            <a:off x="7055643" y="3325857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9" name="Shape 90"/>
          <p:cNvSpPr/>
          <p:nvPr/>
        </p:nvSpPr>
        <p:spPr>
          <a:xfrm rot="-4320816">
            <a:off x="7097705" y="3174875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0" name="Shape 91"/>
          <p:cNvSpPr/>
          <p:nvPr/>
        </p:nvSpPr>
        <p:spPr>
          <a:xfrm rot="-4061004">
            <a:off x="7139768" y="3045315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1" name="Shape 92"/>
          <p:cNvSpPr/>
          <p:nvPr/>
        </p:nvSpPr>
        <p:spPr>
          <a:xfrm rot="-3559471">
            <a:off x="7181830" y="2942841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2" name="Shape 93"/>
          <p:cNvSpPr/>
          <p:nvPr/>
        </p:nvSpPr>
        <p:spPr>
          <a:xfrm rot="-2445184">
            <a:off x="7223892" y="2871931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3" name="Shape 94"/>
          <p:cNvSpPr/>
          <p:nvPr/>
        </p:nvSpPr>
        <p:spPr>
          <a:xfrm>
            <a:off x="7265955" y="2835684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4" name="Shape 95"/>
          <p:cNvSpPr/>
          <p:nvPr/>
        </p:nvSpPr>
        <p:spPr>
          <a:xfrm rot="2445184">
            <a:off x="7308017" y="2835684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5" name="Shape 96"/>
          <p:cNvSpPr/>
          <p:nvPr/>
        </p:nvSpPr>
        <p:spPr>
          <a:xfrm rot="3559471">
            <a:off x="7350080" y="2871931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6" name="Shape 97"/>
          <p:cNvSpPr/>
          <p:nvPr/>
        </p:nvSpPr>
        <p:spPr>
          <a:xfrm rot="4061004">
            <a:off x="7392142" y="2942841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7" name="Shape 98"/>
          <p:cNvSpPr/>
          <p:nvPr/>
        </p:nvSpPr>
        <p:spPr>
          <a:xfrm rot="4320816">
            <a:off x="7434204" y="3045315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8" name="Shape 99"/>
          <p:cNvSpPr/>
          <p:nvPr/>
        </p:nvSpPr>
        <p:spPr>
          <a:xfrm rot="4465957">
            <a:off x="7476267" y="3174875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9" name="Shape 100"/>
          <p:cNvSpPr/>
          <p:nvPr/>
        </p:nvSpPr>
        <p:spPr>
          <a:xfrm rot="4545918">
            <a:off x="7518329" y="3325857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0" name="Shape 101"/>
          <p:cNvSpPr/>
          <p:nvPr/>
        </p:nvSpPr>
        <p:spPr>
          <a:xfrm rot="4581822">
            <a:off x="7560392" y="3491664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1" name="Shape 102"/>
          <p:cNvSpPr/>
          <p:nvPr/>
        </p:nvSpPr>
        <p:spPr>
          <a:xfrm rot="4581822">
            <a:off x="7602454" y="3665048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2" name="Shape 103"/>
          <p:cNvSpPr/>
          <p:nvPr/>
        </p:nvSpPr>
        <p:spPr>
          <a:xfrm rot="4545918">
            <a:off x="7644516" y="3838432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3" name="Shape 104"/>
          <p:cNvSpPr/>
          <p:nvPr/>
        </p:nvSpPr>
        <p:spPr>
          <a:xfrm rot="4465957">
            <a:off x="7686579" y="4004239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4" name="Shape 105"/>
          <p:cNvSpPr/>
          <p:nvPr/>
        </p:nvSpPr>
        <p:spPr>
          <a:xfrm rot="4320816">
            <a:off x="7728641" y="4155221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5" name="Shape 106"/>
          <p:cNvSpPr/>
          <p:nvPr/>
        </p:nvSpPr>
        <p:spPr>
          <a:xfrm rot="4061004">
            <a:off x="7770704" y="4284781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6" name="Shape 107"/>
          <p:cNvSpPr/>
          <p:nvPr/>
        </p:nvSpPr>
        <p:spPr>
          <a:xfrm rot="3559471">
            <a:off x="7812766" y="4387255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7" name="Shape 108"/>
          <p:cNvSpPr/>
          <p:nvPr/>
        </p:nvSpPr>
        <p:spPr>
          <a:xfrm rot="2445184">
            <a:off x="7854828" y="4458165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8" name="Shape 109"/>
          <p:cNvSpPr/>
          <p:nvPr/>
        </p:nvSpPr>
        <p:spPr>
          <a:xfrm>
            <a:off x="7896891" y="4494412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9" name="Shape 110"/>
          <p:cNvSpPr/>
          <p:nvPr/>
        </p:nvSpPr>
        <p:spPr>
          <a:xfrm rot="-2445184">
            <a:off x="7938953" y="4494412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0" name="Shape 111"/>
          <p:cNvSpPr/>
          <p:nvPr/>
        </p:nvSpPr>
        <p:spPr>
          <a:xfrm rot="-3559471">
            <a:off x="7981016" y="4458165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1" name="Shape 112"/>
          <p:cNvSpPr/>
          <p:nvPr/>
        </p:nvSpPr>
        <p:spPr>
          <a:xfrm rot="-4061004">
            <a:off x="8023078" y="4387255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2" name="Shape 113"/>
          <p:cNvSpPr/>
          <p:nvPr/>
        </p:nvSpPr>
        <p:spPr>
          <a:xfrm rot="-4320816">
            <a:off x="8065140" y="4284781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3" name="Shape 114"/>
          <p:cNvSpPr/>
          <p:nvPr/>
        </p:nvSpPr>
        <p:spPr>
          <a:xfrm rot="-4465957">
            <a:off x="8107203" y="4155221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4" name="Shape 115"/>
          <p:cNvSpPr/>
          <p:nvPr/>
        </p:nvSpPr>
        <p:spPr>
          <a:xfrm rot="-4545918">
            <a:off x="8149265" y="4004239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5" name="Shape 116"/>
          <p:cNvSpPr/>
          <p:nvPr/>
        </p:nvSpPr>
        <p:spPr>
          <a:xfrm rot="-4581822">
            <a:off x="8191328" y="3838432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6" name="Shape 117"/>
          <p:cNvSpPr/>
          <p:nvPr/>
        </p:nvSpPr>
        <p:spPr>
          <a:xfrm rot="-4581822">
            <a:off x="8233390" y="3665048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7" name="Shape 118"/>
          <p:cNvSpPr/>
          <p:nvPr/>
        </p:nvSpPr>
        <p:spPr>
          <a:xfrm rot="-4545918">
            <a:off x="8275452" y="3491664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8" name="Shape 119"/>
          <p:cNvSpPr/>
          <p:nvPr/>
        </p:nvSpPr>
        <p:spPr>
          <a:xfrm rot="-4465957">
            <a:off x="8317515" y="3325857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9" name="Shape 120"/>
          <p:cNvSpPr/>
          <p:nvPr/>
        </p:nvSpPr>
        <p:spPr>
          <a:xfrm rot="-4320816">
            <a:off x="8359577" y="3174875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0" name="Shape 121"/>
          <p:cNvSpPr/>
          <p:nvPr/>
        </p:nvSpPr>
        <p:spPr>
          <a:xfrm rot="-4061004">
            <a:off x="8401640" y="3045315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1" name="Shape 122"/>
          <p:cNvSpPr/>
          <p:nvPr/>
        </p:nvSpPr>
        <p:spPr>
          <a:xfrm rot="-3559471">
            <a:off x="8443702" y="2942841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2" name="Shape 123"/>
          <p:cNvSpPr/>
          <p:nvPr/>
        </p:nvSpPr>
        <p:spPr>
          <a:xfrm rot="-2445184">
            <a:off x="8485764" y="2871931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3" name="Shape 124"/>
          <p:cNvSpPr/>
          <p:nvPr/>
        </p:nvSpPr>
        <p:spPr>
          <a:xfrm>
            <a:off x="8527827" y="2835684"/>
            <a:ext cx="4206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4" name="Shape 125"/>
          <p:cNvSpPr/>
          <p:nvPr/>
        </p:nvSpPr>
        <p:spPr>
          <a:xfrm rot="2445184">
            <a:off x="8569889" y="2835684"/>
            <a:ext cx="5552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5" name="Shape 126"/>
          <p:cNvSpPr/>
          <p:nvPr/>
        </p:nvSpPr>
        <p:spPr>
          <a:xfrm rot="3559471">
            <a:off x="8611952" y="2871931"/>
            <a:ext cx="82447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6" name="Shape 127"/>
          <p:cNvSpPr/>
          <p:nvPr/>
        </p:nvSpPr>
        <p:spPr>
          <a:xfrm rot="4061004">
            <a:off x="8654014" y="2942841"/>
            <a:ext cx="11077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7" name="Shape 128"/>
          <p:cNvSpPr/>
          <p:nvPr/>
        </p:nvSpPr>
        <p:spPr>
          <a:xfrm rot="4320816">
            <a:off x="8696076" y="3045315"/>
            <a:ext cx="136216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8" name="Shape 129"/>
          <p:cNvSpPr/>
          <p:nvPr/>
        </p:nvSpPr>
        <p:spPr>
          <a:xfrm rot="4465957">
            <a:off x="8738139" y="3174875"/>
            <a:ext cx="15673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9" name="Shape 130"/>
          <p:cNvSpPr/>
          <p:nvPr/>
        </p:nvSpPr>
        <p:spPr>
          <a:xfrm rot="4545918">
            <a:off x="8780201" y="3325857"/>
            <a:ext cx="171059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0" name="Shape 131"/>
          <p:cNvSpPr/>
          <p:nvPr/>
        </p:nvSpPr>
        <p:spPr>
          <a:xfrm rot="4581822">
            <a:off x="8822264" y="3491664"/>
            <a:ext cx="17841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1" name="Shape 132"/>
          <p:cNvSpPr/>
          <p:nvPr/>
        </p:nvSpPr>
        <p:spPr>
          <a:xfrm>
            <a:off x="6340582" y="3665048"/>
            <a:ext cx="2523744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of Waves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Interference — Waves In Phase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waves arrive at the same point </a:t>
            </a:r>
            <a:r>
              <a:rPr lang="en-US" sz="15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in phase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(phase difference Δφ = 0, 2π, 4π, …  or  ΔL = 0, λ, 2λ, …)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-2269637">
            <a:off x="365760" y="1897380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195652">
            <a:off x="454152" y="1828749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043812">
            <a:off x="542544" y="1763117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1807307">
            <a:off x="630936" y="1703353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479010">
            <a:off x="719328" y="1652069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057026">
            <a:off x="807720" y="1611506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553193">
            <a:off x="896112" y="1583438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504" y="1569090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53193">
            <a:off x="1072896" y="1569090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57026">
            <a:off x="1161288" y="1583438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479010">
            <a:off x="1249680" y="1611506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07307">
            <a:off x="1338072" y="1652069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043812">
            <a:off x="1426464" y="1703353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195652">
            <a:off x="1514856" y="1763117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269637">
            <a:off x="1603248" y="1828749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269637">
            <a:off x="1691640" y="1897380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95652">
            <a:off x="1780032" y="1966011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043812">
            <a:off x="1868424" y="2031643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807307">
            <a:off x="1956816" y="2091407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479010">
            <a:off x="2045208" y="2142691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57026">
            <a:off x="2133600" y="2183254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53193">
            <a:off x="2221992" y="2211322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0384" y="2225670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553193">
            <a:off x="2398776" y="2225670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1057026">
            <a:off x="2487168" y="2211322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1479010">
            <a:off x="2575560" y="2183254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1807307">
            <a:off x="2663952" y="2142691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2043812">
            <a:off x="2752344" y="2091407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2195652">
            <a:off x="2840736" y="2031643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2269637">
            <a:off x="2929128" y="1966011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269637">
            <a:off x="3017520" y="1897380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2195652">
            <a:off x="3105912" y="1828749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043812">
            <a:off x="3194304" y="1763117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1807307">
            <a:off x="3282696" y="1703353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479010">
            <a:off x="3371088" y="1652069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057026">
            <a:off x="3459480" y="1611506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553193">
            <a:off x="3547872" y="1583438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36264" y="1569090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53193">
            <a:off x="3724656" y="1569090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57026">
            <a:off x="3813048" y="1583438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479010">
            <a:off x="3901440" y="1611506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807307">
            <a:off x="3989832" y="1652069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043812">
            <a:off x="4078224" y="1703353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195652">
            <a:off x="4166616" y="1763117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269637">
            <a:off x="4255008" y="1828749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269637">
            <a:off x="4343400" y="1897380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195652">
            <a:off x="4431792" y="1966011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043812">
            <a:off x="4520184" y="2031643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807307">
            <a:off x="4608576" y="2091407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479010">
            <a:off x="4696968" y="2142691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57026">
            <a:off x="4785360" y="2183254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53193">
            <a:off x="4873752" y="2211322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62144" y="2225670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553193">
            <a:off x="5050536" y="2225670"/>
            <a:ext cx="89549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1057026">
            <a:off x="5138928" y="2211322"/>
            <a:ext cx="9274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1479010">
            <a:off x="5227320" y="2183254"/>
            <a:ext cx="9725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1807307">
            <a:off x="5315712" y="2142691"/>
            <a:ext cx="1021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2043812">
            <a:off x="5404104" y="2091407"/>
            <a:ext cx="10670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2195652">
            <a:off x="5492496" y="2031643"/>
            <a:ext cx="11009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2269637">
            <a:off x="5580888" y="1966011"/>
            <a:ext cx="111908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1897380"/>
            <a:ext cx="53035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36576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 (amplitude A)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 rot="-2269637">
            <a:off x="365760" y="2811780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2195652">
            <a:off x="454152" y="2743149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2043812">
            <a:off x="542544" y="2677517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1807307">
            <a:off x="630936" y="2617753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1479010">
            <a:off x="719328" y="2566469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1057026">
            <a:off x="807720" y="2525906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553193">
            <a:off x="896112" y="2497838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4504" y="2483490"/>
            <a:ext cx="883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553193">
            <a:off x="1072896" y="2483490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1057026">
            <a:off x="1161288" y="2497838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1479010">
            <a:off x="1249680" y="2525906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1807307">
            <a:off x="1338072" y="2566469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043812">
            <a:off x="1426464" y="2617753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195652">
            <a:off x="1514856" y="2677517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2269637">
            <a:off x="1603248" y="2743149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2269637">
            <a:off x="1691640" y="2811780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2195652">
            <a:off x="1780032" y="2880411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2043812">
            <a:off x="1868424" y="2946043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1807307">
            <a:off x="1956816" y="3005807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1479010">
            <a:off x="2045208" y="3057091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1057026">
            <a:off x="2133600" y="3097654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53193">
            <a:off x="2221992" y="3125722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10384" y="3140070"/>
            <a:ext cx="883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553193">
            <a:off x="2398776" y="3140070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1057026">
            <a:off x="2487168" y="3125722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1479010">
            <a:off x="2575560" y="3097654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1807307">
            <a:off x="2663952" y="3057091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2043812">
            <a:off x="2752344" y="3005807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2195652">
            <a:off x="2840736" y="2946043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2269637">
            <a:off x="2929128" y="2880411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2269637">
            <a:off x="3017520" y="2811780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2195652">
            <a:off x="3105912" y="2743149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2043812">
            <a:off x="3194304" y="2677517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1807307">
            <a:off x="3282696" y="2617753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1479010">
            <a:off x="3371088" y="2566469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1057026">
            <a:off x="3459480" y="2525906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553193">
            <a:off x="3547872" y="2497838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36264" y="2483490"/>
            <a:ext cx="883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553193">
            <a:off x="3724656" y="2483490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1057026">
            <a:off x="3813048" y="2497838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1479010">
            <a:off x="3901440" y="2525906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1807307">
            <a:off x="3989832" y="2566469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2043812">
            <a:off x="4078224" y="2617753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2195652">
            <a:off x="4166616" y="2677517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2269637">
            <a:off x="4255008" y="2743149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2269637">
            <a:off x="4343400" y="2811780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2195652">
            <a:off x="4431792" y="2880411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043812">
            <a:off x="4520184" y="2946043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1807307">
            <a:off x="4608576" y="3005807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1479010">
            <a:off x="4696968" y="3057091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1057026">
            <a:off x="4785360" y="3097654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553193">
            <a:off x="4873752" y="3125722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62144" y="3140070"/>
            <a:ext cx="883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553193">
            <a:off x="5050536" y="3140070"/>
            <a:ext cx="895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1057026">
            <a:off x="5138928" y="3125722"/>
            <a:ext cx="9274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1479010">
            <a:off x="5227320" y="3097654"/>
            <a:ext cx="972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1807307">
            <a:off x="5315712" y="3057091"/>
            <a:ext cx="10219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2043812">
            <a:off x="5404104" y="3005807"/>
            <a:ext cx="10670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2195652">
            <a:off x="5492496" y="2946043"/>
            <a:ext cx="11009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2269637">
            <a:off x="5580888" y="2880411"/>
            <a:ext cx="11190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5760" y="2811780"/>
            <a:ext cx="53035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29" name="Text 127"/>
          <p:cNvSpPr/>
          <p:nvPr/>
        </p:nvSpPr>
        <p:spPr>
          <a:xfrm>
            <a:off x="365760" y="2377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y₂  (amplitude A, same phase)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 rot="-2666626">
            <a:off x="365760" y="3840480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-2589885">
            <a:off x="454152" y="3753788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2429939">
            <a:off x="542544" y="3670884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2174191">
            <a:off x="630936" y="3595393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1805942">
            <a:off x="719328" y="3530614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-1311380">
            <a:off x="807720" y="3479377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695229">
            <a:off x="896112" y="3443921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84504" y="3425798"/>
            <a:ext cx="88392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695229">
            <a:off x="1072896" y="3425798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1311380">
            <a:off x="1161288" y="3443921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1805942">
            <a:off x="1249680" y="3479377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174191">
            <a:off x="1338072" y="3530614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429939">
            <a:off x="1426464" y="3595393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589885">
            <a:off x="1514856" y="3670884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666626">
            <a:off x="1603248" y="3753788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666626">
            <a:off x="1691640" y="3840480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589885">
            <a:off x="1780032" y="3927172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429939">
            <a:off x="1868424" y="4010076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174191">
            <a:off x="1956816" y="4085567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1805942">
            <a:off x="2045208" y="4150346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1311380">
            <a:off x="2133600" y="4201583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695229">
            <a:off x="2221992" y="4237039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310384" y="4255162"/>
            <a:ext cx="88392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-695229">
            <a:off x="2398776" y="4255162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-1311380">
            <a:off x="2487168" y="4237039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1805942">
            <a:off x="2575560" y="4201583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-2174191">
            <a:off x="2663952" y="4150346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-2429939">
            <a:off x="2752344" y="4085567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2589885">
            <a:off x="2840736" y="4010076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2666626">
            <a:off x="2929128" y="3927172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-2666626">
            <a:off x="3017520" y="3840480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2589885">
            <a:off x="3105912" y="3753788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2429939">
            <a:off x="3194304" y="3670884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2174191">
            <a:off x="3282696" y="3595393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1805942">
            <a:off x="3371088" y="3530614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1311380">
            <a:off x="3459480" y="3479377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695229">
            <a:off x="3547872" y="3443921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636264" y="3425798"/>
            <a:ext cx="88392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695229">
            <a:off x="3724656" y="3425798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1311380">
            <a:off x="3813048" y="3443921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1805942">
            <a:off x="3901440" y="3479377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174191">
            <a:off x="3989832" y="3530614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429939">
            <a:off x="4078224" y="3595393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2589885">
            <a:off x="4166616" y="3670884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2666626">
            <a:off x="4255008" y="3753788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666626">
            <a:off x="4343400" y="3840480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2589885">
            <a:off x="4431792" y="3927172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2429939">
            <a:off x="4520184" y="4010076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2174191">
            <a:off x="4608576" y="4085567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1805942">
            <a:off x="4696968" y="4150346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1311380">
            <a:off x="4785360" y="4201583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695229">
            <a:off x="4873752" y="4237039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962144" y="4255162"/>
            <a:ext cx="88392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695229">
            <a:off x="5050536" y="4255162"/>
            <a:ext cx="9023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1311380">
            <a:off x="5138928" y="4237039"/>
            <a:ext cx="9523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1805942">
            <a:off x="5227320" y="4201583"/>
            <a:ext cx="10216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-2174191">
            <a:off x="5315712" y="4150346"/>
            <a:ext cx="109588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2429939">
            <a:off x="5404104" y="4085567"/>
            <a:ext cx="116241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2589885">
            <a:off x="5492496" y="4010076"/>
            <a:ext cx="121186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2666626">
            <a:off x="5580888" y="3927172"/>
            <a:ext cx="123809" cy="1645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65760" y="3840480"/>
            <a:ext cx="53035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91" name="Text 189"/>
          <p:cNvSpPr/>
          <p:nvPr/>
        </p:nvSpPr>
        <p:spPr>
          <a:xfrm>
            <a:off x="365760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+ y₂  (amplitude 2A) ← LARGER!</a:t>
            </a:r>
            <a:endParaRPr lang="en-US" sz="1100" dirty="0"/>
          </a:p>
        </p:txBody>
      </p:sp>
      <p:sp>
        <p:nvSpPr>
          <p:cNvPr id="192" name="Shape 190"/>
          <p:cNvSpPr/>
          <p:nvPr/>
        </p:nvSpPr>
        <p:spPr>
          <a:xfrm>
            <a:off x="5852160" y="1371600"/>
            <a:ext cx="3017520" cy="3291840"/>
          </a:xfrm>
          <a:prstGeom prst="rect">
            <a:avLst/>
          </a:prstGeom>
          <a:solidFill>
            <a:srgbClr val="E6F9F0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5943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5943600" y="1920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doubles: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y_resultant = 2A sin(kx − ωt)</a:t>
            </a:r>
            <a:endParaRPr lang="en-US" sz="1350" dirty="0"/>
          </a:p>
        </p:txBody>
      </p:sp>
      <p:sp>
        <p:nvSpPr>
          <p:cNvPr id="195" name="Text 193"/>
          <p:cNvSpPr/>
          <p:nvPr/>
        </p:nvSpPr>
        <p:spPr>
          <a:xfrm>
            <a:off x="5943600" y="2834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is UNCHANGED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is UNCHANGED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amplitude doubles</a:t>
            </a:r>
            <a:endParaRPr lang="en-US" sz="1300" dirty="0"/>
          </a:p>
        </p:txBody>
      </p:sp>
      <p:sp>
        <p:nvSpPr>
          <p:cNvPr id="196" name="Text 194"/>
          <p:cNvSpPr/>
          <p:nvPr/>
        </p:nvSpPr>
        <p:spPr>
          <a:xfrm>
            <a:off x="5943600" y="37673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spot in concert hall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Interference — Waves Out of Phase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waves arrive </a:t>
            </a: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out of phase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(phase difference Δφ = π, 3π, …  or  ΔL = λ/2, 3λ/2, …)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-2180241">
            <a:off x="365760" y="1874520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107420">
            <a:off x="454152" y="1809501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958465">
            <a:off x="542544" y="1747323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1727728">
            <a:off x="630936" y="1690705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409799">
            <a:off x="719328" y="1642120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004585">
            <a:off x="807720" y="1603692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524539">
            <a:off x="896112" y="1577101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504" y="1563508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24539">
            <a:off x="1072896" y="1563508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04585">
            <a:off x="1161288" y="1577101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409799">
            <a:off x="1249680" y="1603692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727728">
            <a:off x="1338072" y="1642120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958465">
            <a:off x="1426464" y="1690705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107420">
            <a:off x="1514856" y="1747323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180241">
            <a:off x="1603248" y="1809501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80241">
            <a:off x="1691640" y="1874520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7420">
            <a:off x="1780032" y="1939539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958465">
            <a:off x="1868424" y="2001717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727728">
            <a:off x="1956816" y="2058335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409799">
            <a:off x="2045208" y="2106920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04585">
            <a:off x="2133600" y="2145348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24539">
            <a:off x="2221992" y="2171939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0384" y="2185532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524539">
            <a:off x="2398776" y="2185532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1004585">
            <a:off x="2487168" y="2171939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1409799">
            <a:off x="2575560" y="2145348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1727728">
            <a:off x="2663952" y="2106920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1958465">
            <a:off x="2752344" y="2058335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2107420">
            <a:off x="2840736" y="2001717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2180241">
            <a:off x="2929128" y="1939539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180241">
            <a:off x="3017520" y="1874520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2107420">
            <a:off x="3105912" y="1809501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1958465">
            <a:off x="3194304" y="1747323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1727728">
            <a:off x="3282696" y="1690705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409799">
            <a:off x="3371088" y="1642120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004585">
            <a:off x="3459480" y="1603692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524539">
            <a:off x="3547872" y="1577101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36264" y="1563508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24539">
            <a:off x="3724656" y="1563508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04585">
            <a:off x="3813048" y="1577101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409799">
            <a:off x="3901440" y="1603692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727728">
            <a:off x="3989832" y="1642120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1958465">
            <a:off x="4078224" y="1690705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107420">
            <a:off x="4166616" y="1747323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180241">
            <a:off x="4255008" y="1809501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180241">
            <a:off x="4343400" y="1874520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107420">
            <a:off x="4431792" y="1939539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958465">
            <a:off x="4520184" y="2001717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727728">
            <a:off x="4608576" y="2058335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409799">
            <a:off x="4696968" y="2106920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04585">
            <a:off x="4785360" y="2145348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24539">
            <a:off x="4873752" y="2171939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62144" y="2185532"/>
            <a:ext cx="88392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524539">
            <a:off x="5050536" y="2185532"/>
            <a:ext cx="89431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1004585">
            <a:off x="5138928" y="2171939"/>
            <a:ext cx="92305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1409799">
            <a:off x="5227320" y="2145348"/>
            <a:ext cx="9638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1727728">
            <a:off x="5315712" y="2106920"/>
            <a:ext cx="100864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1958465">
            <a:off x="5404104" y="2058335"/>
            <a:ext cx="1049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2107420">
            <a:off x="5492496" y="2001717"/>
            <a:ext cx="10807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2180241">
            <a:off x="5580888" y="1939539"/>
            <a:ext cx="109730" cy="16459"/>
          </a:xfrm>
          <a:prstGeom prst="rect">
            <a:avLst/>
          </a:prstGeom>
          <a:solidFill>
            <a:srgbClr val="5BA4C4"/>
          </a:solidFill>
          <a:ln w="12700">
            <a:solidFill>
              <a:srgbClr val="5BA4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1874520"/>
            <a:ext cx="53035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36576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 (amplitude A)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 rot="2180241">
            <a:off x="365760" y="2743200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107420">
            <a:off x="454152" y="2808219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1958465">
            <a:off x="542544" y="2870397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1727728">
            <a:off x="630936" y="2927015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1409799">
            <a:off x="719328" y="2975600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04585">
            <a:off x="807720" y="3014028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24539">
            <a:off x="896112" y="3040619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4504" y="3054212"/>
            <a:ext cx="8839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524539">
            <a:off x="1072896" y="3054212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1004585">
            <a:off x="1161288" y="3040619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1409799">
            <a:off x="1249680" y="3014028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1727728">
            <a:off x="1338072" y="2975600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1958465">
            <a:off x="1426464" y="2927015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2107420">
            <a:off x="1514856" y="2870397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2180241">
            <a:off x="1603248" y="2808219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2180241">
            <a:off x="1691640" y="2743200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2107420">
            <a:off x="1780032" y="2678181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1958465">
            <a:off x="1868424" y="2616003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1727728">
            <a:off x="1956816" y="2559385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1409799">
            <a:off x="2045208" y="2510800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1004585">
            <a:off x="2133600" y="2472372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524539">
            <a:off x="2221992" y="2445781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10384" y="2432188"/>
            <a:ext cx="8839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524539">
            <a:off x="2398776" y="2432188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04585">
            <a:off x="2487168" y="2445781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1409799">
            <a:off x="2575560" y="2472372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727728">
            <a:off x="2663952" y="2510800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1958465">
            <a:off x="2752344" y="2559385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2107420">
            <a:off x="2840736" y="2616003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2180241">
            <a:off x="2929128" y="2678181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2180241">
            <a:off x="3017520" y="2743200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2107420">
            <a:off x="3105912" y="2808219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1958465">
            <a:off x="3194304" y="2870397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1727728">
            <a:off x="3282696" y="2927015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1409799">
            <a:off x="3371088" y="2975600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1004585">
            <a:off x="3459480" y="3014028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524539">
            <a:off x="3547872" y="3040619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36264" y="3054212"/>
            <a:ext cx="8839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524539">
            <a:off x="3724656" y="3054212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-1004585">
            <a:off x="3813048" y="3040619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-1409799">
            <a:off x="3901440" y="3014028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1727728">
            <a:off x="3989832" y="2975600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1958465">
            <a:off x="4078224" y="2927015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-2107420">
            <a:off x="4166616" y="2870397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2180241">
            <a:off x="4255008" y="2808219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2180241">
            <a:off x="4343400" y="2743200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2107420">
            <a:off x="4431792" y="2678181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1958465">
            <a:off x="4520184" y="2616003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1727728">
            <a:off x="4608576" y="2559385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409799">
            <a:off x="4696968" y="2510800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1004585">
            <a:off x="4785360" y="2472372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-524539">
            <a:off x="4873752" y="2445781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62144" y="2432188"/>
            <a:ext cx="88392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524539">
            <a:off x="5050536" y="2432188"/>
            <a:ext cx="89431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1004585">
            <a:off x="5138928" y="2445781"/>
            <a:ext cx="92305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1409799">
            <a:off x="5227320" y="2472372"/>
            <a:ext cx="9638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1727728">
            <a:off x="5315712" y="2510800"/>
            <a:ext cx="100864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1958465">
            <a:off x="5404104" y="2559385"/>
            <a:ext cx="1049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2107420">
            <a:off x="5492496" y="2616003"/>
            <a:ext cx="10807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2180241">
            <a:off x="5580888" y="2678181"/>
            <a:ext cx="109730" cy="1645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5760" y="2743200"/>
            <a:ext cx="530352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29" name="Text 127"/>
          <p:cNvSpPr/>
          <p:nvPr/>
        </p:nvSpPr>
        <p:spPr>
          <a:xfrm>
            <a:off x="365760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y₂  (amplitude A, phase shift π)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365760" y="3657600"/>
            <a:ext cx="5303520" cy="0"/>
          </a:xfrm>
          <a:prstGeom prst="line">
            <a:avLst/>
          </a:prstGeom>
          <a:noFill/>
          <a:ln w="38100">
            <a:solidFill>
              <a:srgbClr val="0D1B3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y₁ + y₂  = 0  (ZERO amplitude — complete cancellation)</a:t>
            </a:r>
            <a:endParaRPr lang="en-US" sz="1150" dirty="0"/>
          </a:p>
        </p:txBody>
      </p:sp>
      <p:sp>
        <p:nvSpPr>
          <p:cNvPr id="132" name="Shape 130"/>
          <p:cNvSpPr/>
          <p:nvPr/>
        </p:nvSpPr>
        <p:spPr>
          <a:xfrm>
            <a:off x="5852160" y="1371600"/>
            <a:ext cx="3017520" cy="3291840"/>
          </a:xfrm>
          <a:prstGeom prst="rect">
            <a:avLst/>
          </a:prstGeom>
          <a:solidFill>
            <a:srgbClr val="FDECEC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5943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34" name="Text 132"/>
          <p:cNvSpPr/>
          <p:nvPr/>
        </p:nvSpPr>
        <p:spPr>
          <a:xfrm>
            <a:off x="5943600" y="1920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Amplitudes cancel: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y_resultant = 0</a:t>
            </a:r>
            <a:endParaRPr lang="en-US" sz="1400" dirty="0"/>
          </a:p>
        </p:txBody>
      </p:sp>
      <p:sp>
        <p:nvSpPr>
          <p:cNvPr id="135" name="Text 133"/>
          <p:cNvSpPr/>
          <p:nvPr/>
        </p:nvSpPr>
        <p:spPr>
          <a:xfrm>
            <a:off x="5943600" y="269748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waves completely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 each other.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redistributed,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destroyed.</a:t>
            </a:r>
            <a:endParaRPr lang="en-US" sz="1250" dirty="0"/>
          </a:p>
        </p:txBody>
      </p:sp>
      <p:sp>
        <p:nvSpPr>
          <p:cNvPr id="136" name="Text 134"/>
          <p:cNvSpPr/>
          <p:nvPr/>
        </p:nvSpPr>
        <p:spPr>
          <a:xfrm>
            <a:off x="5943600" y="37490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noise-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headphones,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anti-reflective lens coatings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Principle of Superposition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II begins: when two waves share the same medium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90688"/>
            <a:ext cx="3936280" cy="287410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691" y="1190688"/>
            <a:ext cx="4483330" cy="6350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821" y="1829268"/>
            <a:ext cx="4267419" cy="205115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968" y="3955989"/>
            <a:ext cx="5067560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49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6575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Interference of Waves — 3 Cases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two same-wavelength waves travel the same direction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91816" y="1517904"/>
            <a:ext cx="4572000" cy="388620"/>
          </a:xfrm>
          <a:prstGeom prst="rect">
            <a:avLst/>
          </a:prstGeom>
          <a:solidFill>
            <a:srgbClr val="0D1B45"/>
          </a:solidFill>
          <a:ln w="19050">
            <a:solidFill>
              <a:srgbClr val="1E276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302159"/>
            <a:ext cx="4425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54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y'ₘ = 2yₘ · cos(φ/2)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852928" cy="2880360"/>
          </a:xfrm>
          <a:prstGeom prst="rect">
            <a:avLst/>
          </a:prstGeom>
          <a:solidFill>
            <a:srgbClr val="E8FFF4"/>
          </a:solidFill>
          <a:ln w="17780">
            <a:solidFill>
              <a:srgbClr val="43E97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2852928" cy="402336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Fully Constructive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φ = 0 (or 2π, 4π, …)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9004" y="2592324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3E97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y'ₘ = 2yₘ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234070"/>
            <a:ext cx="2606040" cy="447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Peaks align with peaks. cos(0)=1. Maximum possible amplitude. In phase.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64408" y="1920240"/>
            <a:ext cx="2852928" cy="2880360"/>
          </a:xfrm>
          <a:prstGeom prst="rect">
            <a:avLst/>
          </a:prstGeom>
          <a:solidFill>
            <a:srgbClr val="FFF0F0"/>
          </a:solidFill>
          <a:ln w="1778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920240"/>
            <a:ext cx="2852928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93852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Fully Destructive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295144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φ = π (or 3π, 5π, …)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37560" y="2578608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y'ₘ = 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4580" y="4229816"/>
            <a:ext cx="2583028" cy="451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Peaks align with troughs. cos(π/2)=0. Complete cancellation. String flat.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08776" y="1920240"/>
            <a:ext cx="2852928" cy="2880360"/>
          </a:xfrm>
          <a:prstGeom prst="rect">
            <a:avLst/>
          </a:prstGeom>
          <a:solidFill>
            <a:srgbClr val="EBF6FF"/>
          </a:solidFill>
          <a:ln w="17780">
            <a:solidFill>
              <a:srgbClr val="4FC3F7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920240"/>
            <a:ext cx="2852928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93852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0216" y="242316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 &lt; φ &lt; 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0216" y="283464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 &lt; y'ₘ &lt; 2yₘ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18504" y="3383280"/>
            <a:ext cx="26334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alignment. Amplitude between zero and maximum. Most common case.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FFFDE7"/>
          </a:solidFill>
          <a:ln w="1016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D40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Key: integer multiples of 2π (whole wavelengths) can always be discarded — only the fractional part determines the interference type.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2" y="3019652"/>
            <a:ext cx="1769345" cy="121016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757" y="2999233"/>
            <a:ext cx="1879936" cy="121229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954674"/>
            <a:ext cx="3943553" cy="4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11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Interference — Arbitrary Phase Difference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waves with a phase difference φ: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69494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3716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  =  2A cos(φ/2) · sin(kx − ωt + φ/2)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 Difference φ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Amplitude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φ = 0, 2π, 4π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cos(φ/2) = 1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7D46"/>
                          </a:solidFill>
                        </a:rPr>
                        <a:t>2A (maximum)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7D46"/>
                          </a:solidFill>
                        </a:rPr>
                        <a:t>Constructive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φ = π, 3π, 5π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cos(φ/2) = 0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0 (minimum)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Destructive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 &lt; φ &lt; π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 &lt; cos(φ/2) &lt; 1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Between 0 and 2A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</a:rPr>
                        <a:t>Partial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Waves that obey superposition are called LINEAR waves. Ocean waves are NON-LINEAR — superposition does not perfectly apply.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Waves &amp; Resonance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Waves — How They Form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waves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 when two identical waves travel in opposite directions and interfere continuously.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389888"/>
            <a:ext cx="694944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89888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y(x,t) = 2A sin(kx) · cos(ωt)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travelling wave — it's a product of a spatial function and a time function.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-2184289">
            <a:off x="457200" y="3246120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111411">
            <a:off x="594360" y="3144979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962318">
            <a:off x="731520" y="3048259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731309">
            <a:off x="868680" y="2960186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412902">
            <a:off x="1005840" y="2884609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1006926">
            <a:off x="1143000" y="2824833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525814">
            <a:off x="1280160" y="2783468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2762324"/>
            <a:ext cx="137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25814">
            <a:off x="1554480" y="2762324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06926">
            <a:off x="1691640" y="2783468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412902">
            <a:off x="1828800" y="2824833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731309">
            <a:off x="1965960" y="2884609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962318">
            <a:off x="2103120" y="2960186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11411">
            <a:off x="2240280" y="3048259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84289">
            <a:off x="2377440" y="3144979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84289">
            <a:off x="2514600" y="3246120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111411">
            <a:off x="2651760" y="3347261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962318">
            <a:off x="2788920" y="3443981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731309">
            <a:off x="2926080" y="3532054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412902">
            <a:off x="3063240" y="3607631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06926">
            <a:off x="3200400" y="3667407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25814">
            <a:off x="3337560" y="3708772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729916"/>
            <a:ext cx="137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525814">
            <a:off x="3611880" y="3729916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1006926">
            <a:off x="3749040" y="3708772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1412902">
            <a:off x="3886200" y="3667407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1731309">
            <a:off x="4023360" y="3607631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1962318">
            <a:off x="4160520" y="3532054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2111411">
            <a:off x="4297680" y="3443981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184289">
            <a:off x="4434840" y="3347261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2184289">
            <a:off x="4572000" y="3246120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111411">
            <a:off x="4709160" y="3144979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962318">
            <a:off x="4846320" y="3048259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731309">
            <a:off x="4983480" y="2960186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1412902">
            <a:off x="5120640" y="2884609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1006926">
            <a:off x="5257800" y="2824833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525814">
            <a:off x="5394960" y="2783468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2120" y="2762324"/>
            <a:ext cx="137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25814">
            <a:off x="5669280" y="2762324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1006926">
            <a:off x="5806440" y="2783468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412902">
            <a:off x="5943600" y="2824833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731309">
            <a:off x="6080760" y="2884609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962318">
            <a:off x="6217920" y="2960186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111411">
            <a:off x="6355080" y="3048259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184289">
            <a:off x="6492240" y="3144979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184289">
            <a:off x="6629400" y="3246120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111411">
            <a:off x="6766560" y="3347261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962318">
            <a:off x="6903720" y="3443981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731309">
            <a:off x="7040880" y="3532054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412902">
            <a:off x="7178040" y="3607631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006926">
            <a:off x="7315200" y="3667407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525814">
            <a:off x="7452360" y="3708772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3729916"/>
            <a:ext cx="137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525814">
            <a:off x="7726680" y="3729916"/>
            <a:ext cx="13878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1006926">
            <a:off x="7863840" y="3708772"/>
            <a:ext cx="14326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412902">
            <a:off x="8001000" y="3667407"/>
            <a:ext cx="1496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731309">
            <a:off x="8138160" y="3607631"/>
            <a:ext cx="156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962318">
            <a:off x="8275320" y="3532054"/>
            <a:ext cx="16300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2111411">
            <a:off x="8412480" y="3443981"/>
            <a:ext cx="16783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2184289">
            <a:off x="8549640" y="3347261"/>
            <a:ext cx="170418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74904" y="3163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32304" y="3163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89704" y="3163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547104" y="3163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04504" y="316382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Node: zero displacement (always zero)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57200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Antinode: maximum displacement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65760" y="4343400"/>
            <a:ext cx="40233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57200" y="44531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 x = nλ/2     (n = 0, 1, 2, …)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4754880" y="4343400"/>
            <a:ext cx="40233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846320" y="44531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Antinodes:  x = (2n+1)λ/4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Modes — Harmonics on a Fixed String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fixed at both ends supports standing waves only at discrete frequencies: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840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39903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Wavelengths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λₙ = 2L/n     (n = 1, 2, 3 …)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" y="2002536"/>
            <a:ext cx="3694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string length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3891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399032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Frequencies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6550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fₙ = nv/2L = n · f₁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2002536"/>
            <a:ext cx="4242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 = fundamental frequency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11780"/>
            <a:ext cx="685800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rot="-424470">
            <a:off x="914400" y="2811780"/>
            <a:ext cx="34553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414120">
            <a:off x="1257300" y="2769225"/>
            <a:ext cx="345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393654">
            <a:off x="1600200" y="2727717"/>
            <a:ext cx="345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363534">
            <a:off x="1943100" y="2688279"/>
            <a:ext cx="3448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24456">
            <a:off x="2286000" y="2651882"/>
            <a:ext cx="34443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277334">
            <a:off x="2628900" y="2619423"/>
            <a:ext cx="34401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223294">
            <a:off x="2971800" y="2591700"/>
            <a:ext cx="34362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163649">
            <a:off x="3314700" y="2569396"/>
            <a:ext cx="3432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99877">
            <a:off x="3657600" y="2553060"/>
            <a:ext cx="34304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33576">
            <a:off x="4000500" y="2543095"/>
            <a:ext cx="3429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33576">
            <a:off x="4343400" y="2539746"/>
            <a:ext cx="34291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99877">
            <a:off x="4686300" y="2543095"/>
            <a:ext cx="34304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63649">
            <a:off x="5029200" y="2553060"/>
            <a:ext cx="34328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23294">
            <a:off x="5372100" y="2569396"/>
            <a:ext cx="34362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7334">
            <a:off x="5715000" y="2591700"/>
            <a:ext cx="34401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324456">
            <a:off x="6057900" y="2619423"/>
            <a:ext cx="34443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363534">
            <a:off x="6400800" y="2651882"/>
            <a:ext cx="3448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393654">
            <a:off x="6743700" y="2688279"/>
            <a:ext cx="34516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414120">
            <a:off x="7086600" y="2727717"/>
            <a:ext cx="345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424470">
            <a:off x="7429500" y="2769225"/>
            <a:ext cx="34553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27386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9248" y="27386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25603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Harmonic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(Fundamental)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5112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4400" y="3698748"/>
            <a:ext cx="685800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rot="-836378">
            <a:off x="914400" y="3698748"/>
            <a:ext cx="17665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816559">
            <a:off x="1085850" y="3656193"/>
            <a:ext cx="176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777246">
            <a:off x="1257300" y="3614685"/>
            <a:ext cx="17592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719116">
            <a:off x="1428750" y="3575247"/>
            <a:ext cx="1752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643233">
            <a:off x="1600200" y="3538850"/>
            <a:ext cx="17449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551105">
            <a:off x="1771650" y="3506391"/>
            <a:ext cx="17367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444719">
            <a:off x="1943100" y="3478668"/>
            <a:ext cx="17289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326560">
            <a:off x="2114550" y="3456364"/>
            <a:ext cx="1722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199586">
            <a:off x="2286000" y="3440028"/>
            <a:ext cx="17173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67146">
            <a:off x="2457450" y="3430063"/>
            <a:ext cx="17148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67146">
            <a:off x="2628900" y="3426714"/>
            <a:ext cx="17148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99586">
            <a:off x="2800350" y="3430063"/>
            <a:ext cx="17173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326560">
            <a:off x="2971800" y="3440028"/>
            <a:ext cx="1722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444719">
            <a:off x="3143250" y="3456364"/>
            <a:ext cx="17289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51105">
            <a:off x="3314700" y="3478668"/>
            <a:ext cx="17367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643233">
            <a:off x="3486150" y="3506391"/>
            <a:ext cx="17449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719116">
            <a:off x="3657600" y="3538850"/>
            <a:ext cx="1752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777246">
            <a:off x="3829050" y="3575247"/>
            <a:ext cx="17592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816559">
            <a:off x="4000500" y="3614685"/>
            <a:ext cx="176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836378">
            <a:off x="4171950" y="3656193"/>
            <a:ext cx="17665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836378">
            <a:off x="4343400" y="3698748"/>
            <a:ext cx="17665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816559">
            <a:off x="4514850" y="3741303"/>
            <a:ext cx="176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777246">
            <a:off x="4686300" y="3782811"/>
            <a:ext cx="17592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719116">
            <a:off x="4857750" y="3822249"/>
            <a:ext cx="1752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643233">
            <a:off x="5029200" y="3858646"/>
            <a:ext cx="17449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551105">
            <a:off x="5200650" y="3891105"/>
            <a:ext cx="17367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444719">
            <a:off x="5372100" y="3918828"/>
            <a:ext cx="17289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326560">
            <a:off x="5543550" y="3941132"/>
            <a:ext cx="1722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199586">
            <a:off x="5715000" y="3957468"/>
            <a:ext cx="17173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67146">
            <a:off x="5886450" y="3967433"/>
            <a:ext cx="17148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67146">
            <a:off x="6057900" y="3970782"/>
            <a:ext cx="17148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199586">
            <a:off x="6229350" y="3967433"/>
            <a:ext cx="17173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326560">
            <a:off x="6400800" y="3957468"/>
            <a:ext cx="17222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444719">
            <a:off x="6572250" y="3941132"/>
            <a:ext cx="17289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551105">
            <a:off x="6743700" y="3918828"/>
            <a:ext cx="17367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643233">
            <a:off x="6915150" y="3891105"/>
            <a:ext cx="17449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719116">
            <a:off x="7086600" y="3858646"/>
            <a:ext cx="17527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777246">
            <a:off x="7258050" y="3822249"/>
            <a:ext cx="175927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816559">
            <a:off x="7429500" y="3782811"/>
            <a:ext cx="1764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836378">
            <a:off x="7600950" y="3741303"/>
            <a:ext cx="17665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41248" y="362559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0248" y="362559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99248" y="362559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63840" y="34472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Harmonic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 Overtone)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65760" y="43982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14400" y="4585716"/>
            <a:ext cx="685800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rot="-1225260">
            <a:off x="914400" y="4585716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1197499">
            <a:off x="1028700" y="4543161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1142180">
            <a:off x="1143000" y="4501653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1059787">
            <a:off x="1257300" y="4462215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951226">
            <a:off x="1371600" y="4425818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818016">
            <a:off x="1485900" y="4393359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662500">
            <a:off x="1600200" y="4365636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488014">
            <a:off x="1714500" y="4343332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298960">
            <a:off x="1828800" y="4326996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100703">
            <a:off x="1943100" y="4317031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100703">
            <a:off x="2057400" y="4313682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298960">
            <a:off x="2171700" y="4317031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488014">
            <a:off x="2286000" y="4326996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662500">
            <a:off x="2400300" y="4343332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818016">
            <a:off x="2514600" y="4365636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951226">
            <a:off x="2628900" y="4393359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1059787">
            <a:off x="2743200" y="4425818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1142180">
            <a:off x="2857500" y="4462215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197499">
            <a:off x="2971800" y="4501653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1225260">
            <a:off x="3086100" y="4543161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1225260">
            <a:off x="3200400" y="4585716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1197499">
            <a:off x="3314700" y="4628271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1142180">
            <a:off x="3429000" y="4669779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1059787">
            <a:off x="3543300" y="4709217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951226">
            <a:off x="3657600" y="4745614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818016">
            <a:off x="3771900" y="4778073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662500">
            <a:off x="3886200" y="4805796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488014">
            <a:off x="4000500" y="4828100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98960">
            <a:off x="4114800" y="4844436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100703">
            <a:off x="4229100" y="4854401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00703">
            <a:off x="4343400" y="4857750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298960">
            <a:off x="4457700" y="4854401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-488014">
            <a:off x="4572000" y="4844436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-662500">
            <a:off x="4686300" y="4828100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818016">
            <a:off x="4800600" y="4805796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951226">
            <a:off x="4914900" y="4778073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1059787">
            <a:off x="5029200" y="4745614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1142180">
            <a:off x="5143500" y="4709217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1197499">
            <a:off x="5257800" y="4669779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1225260">
            <a:off x="5372100" y="4628271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1225260">
            <a:off x="5486400" y="4585716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-1197499">
            <a:off x="5600700" y="4543161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-1142180">
            <a:off x="5715000" y="4501653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-1059787">
            <a:off x="5829300" y="4462215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-951226">
            <a:off x="5943600" y="4425818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818016">
            <a:off x="6057900" y="4393359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662500">
            <a:off x="6172200" y="4365636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488014">
            <a:off x="6286500" y="4343332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-298960">
            <a:off x="6400800" y="4326996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100703">
            <a:off x="6515100" y="4317031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100703">
            <a:off x="6629400" y="4313682"/>
            <a:ext cx="114349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298960">
            <a:off x="6743700" y="4317031"/>
            <a:ext cx="11473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488014">
            <a:off x="6858000" y="4326996"/>
            <a:ext cx="115461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662500">
            <a:off x="6972300" y="4343332"/>
            <a:ext cx="116456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818016">
            <a:off x="7086600" y="4365636"/>
            <a:ext cx="117614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951226">
            <a:off x="7200900" y="4393359"/>
            <a:ext cx="118820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1059787">
            <a:off x="7315200" y="4425818"/>
            <a:ext cx="11995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1142180">
            <a:off x="7429500" y="4462215"/>
            <a:ext cx="120912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1197499">
            <a:off x="7543800" y="4501653"/>
            <a:ext cx="121603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1225260">
            <a:off x="7658100" y="4543161"/>
            <a:ext cx="121965" cy="16459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41248" y="451256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127248" y="451256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13248" y="451256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99248" y="451256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863840" y="433425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Harmonic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(2nd Overtone)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Standing Waves on a String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EBF8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(Halliday Example 16.7)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2.00-m string has linear density μ = 0.006 kg/m. A 2.00-kg mass provides tension. Find: (a) wave speed, (b) wavelengths of first 3 modes, (c) frequencies of first 3 modes.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Wave speed: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00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√(F_T/μ) = √(mg/μ) = √(2.00 × 9.8 / 0.006) = √(3267) = 57.15 m/s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 &amp; c) Modes: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67328"/>
          <a:ext cx="8412480" cy="1188720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 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λₙ = 2L/n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fₙ = v/λₙ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 = 1  (Fundamental)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λ₁ = 2×2.00/1 = 4.00 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</a:rPr>
                        <a:t>f₁ = 57.15/4.00 = 14.29 Hz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 = 2  (2nd Harmonic)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λ₂ = 2×2.00/2 = 2.00 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B8C"/>
                          </a:solidFill>
                        </a:rPr>
                        <a:t>f₂ = 57.15/2.00 = 28.58 Hz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 = 3  (3rd Harmonic)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λ₃ = 2×2.00/3 = 1.33 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</a:rPr>
                        <a:t>f₃ = 57.15/1.33 = 42.87 Hz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— Lecture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503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7899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0744"/>
            <a:ext cx="384048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(μ = 0.0075 kg/m) is under 300 N tension. Find wave speed.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305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v = √(300/0.0075) = √40000 = 200 m/s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07899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261730"/>
            <a:ext cx="3840480" cy="640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y = 0.4 sin(3x − 6t) (SI). Find A, λ, f, T, and direction.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2066544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1305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A=0.4m, k=3, ω=6 → λ=2.09m, f=0.955Hz, T=1.047s, →+x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0175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239386"/>
            <a:ext cx="3840480" cy="6010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sound waves: same A &amp; λ, phase shift π/2. What is the resultant amplitude?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690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y_R = 2A cos(π/4) = 2A × 0.707 = 1.414A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801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30175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1821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1.5-m guitar string resonates at fundamental. Wave speed = 300 m/s. Find f₁, f₂, f₃.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4005072"/>
            <a:ext cx="4114800" cy="36576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40690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f₁=100Hz, f₂=200Hz, f₃=300Hz  (fₙ = nv/2L)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 — Lecture 6 Reference Sheet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fλ = λ/T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82112" y="100584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05840"/>
            <a:ext cx="2743200" cy="29260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0058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 on String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55264" y="13441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√(F_T / μ)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9904" y="100584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05840"/>
            <a:ext cx="27432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0058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Function (+x)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63056" y="1344168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 sin(kx − ωt + φ)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0008"/>
            <a:ext cx="274320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500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Number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" y="268833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2π/λ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182112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350008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3500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Frequency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55264" y="268833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2πf = 2π/T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89904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350008"/>
            <a:ext cx="2743200" cy="292608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3500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63056" y="2688336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 = y₁ + y₂ + …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74320" y="369417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94176"/>
            <a:ext cx="274320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69417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Resultant Amplitude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7472" y="403250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 = 2A cos(φ/2) sin(kx−ωt+φ/2)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3182112" y="369417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3694176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369417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Wave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55264" y="403250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2A sin(kx) cos(ωt)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089904" y="369417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9904" y="3694176"/>
            <a:ext cx="2743200" cy="29260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369417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Harmonics (String)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63056" y="4032504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fₙ = nv/2L = n·f₁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7B8C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5039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8321040" cy="521208"/>
          </a:xfrm>
          <a:prstGeom prst="rect">
            <a:avLst/>
          </a:prstGeom>
          <a:solidFill>
            <a:srgbClr val="15204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Speed:  v = fλ — connects spatial and temporal properties of any wave.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1499616"/>
            <a:ext cx="8321040" cy="521208"/>
          </a:xfrm>
          <a:prstGeom prst="rect">
            <a:avLst/>
          </a:prstGeom>
          <a:solidFill>
            <a:srgbClr val="0E183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961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99616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Speed:  v = √(F_T/μ) — controlled by tension and mass per unit length.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8321040" cy="521208"/>
          </a:xfrm>
          <a:prstGeom prst="rect">
            <a:avLst/>
          </a:prstGeom>
          <a:solidFill>
            <a:srgbClr val="15204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84832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Function:  y = A sin(kx − ωt + φ) — full mathematical description.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670048"/>
            <a:ext cx="8321040" cy="521208"/>
          </a:xfrm>
          <a:prstGeom prst="rect">
            <a:avLst/>
          </a:prstGeom>
          <a:solidFill>
            <a:srgbClr val="0E183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70048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Superposition:  Total displacement = algebraic sum of all individual waves.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3255264"/>
            <a:ext cx="8321040" cy="521208"/>
          </a:xfrm>
          <a:prstGeom prst="rect">
            <a:avLst/>
          </a:prstGeom>
          <a:solidFill>
            <a:srgbClr val="15204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55264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255264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Constructive:  Waves in phase → amplitude doubles. Δφ = 0, 2π, 4π, …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8321040" cy="521208"/>
          </a:xfrm>
          <a:prstGeom prst="rect">
            <a:avLst/>
          </a:prstGeom>
          <a:solidFill>
            <a:srgbClr val="0E183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Destructive:  Waves 180° out of phase → amplitude = zero. Δφ = π, 3π, …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1480" y="4425696"/>
            <a:ext cx="8321040" cy="521208"/>
          </a:xfrm>
          <a:prstGeom prst="rect">
            <a:avLst/>
          </a:prstGeom>
          <a:solidFill>
            <a:srgbClr val="152040"/>
          </a:solidFill>
          <a:ln w="12700">
            <a:solidFill>
              <a:srgbClr val="0A7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2569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425696"/>
            <a:ext cx="7589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Waves:  Fixed nodes, oscillating antinodes, resonance at  fₙ = nf₁.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2885</Words>
  <Application>Microsoft Office PowerPoint</Application>
  <PresentationFormat>On-screen Show (16:9)</PresentationFormat>
  <Paragraphs>385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 – Wave Speed, Wave Equation &amp; Interference</dc:title>
  <dc:subject>PptxGenJS Presentation</dc:subject>
  <dc:creator>PptxGenJS</dc:creator>
  <cp:lastModifiedBy>Asad javed</cp:lastModifiedBy>
  <cp:revision>4</cp:revision>
  <dcterms:created xsi:type="dcterms:W3CDTF">2026-04-14T04:43:41Z</dcterms:created>
  <dcterms:modified xsi:type="dcterms:W3CDTF">2026-04-17T07:50:08Z</dcterms:modified>
</cp:coreProperties>
</file>